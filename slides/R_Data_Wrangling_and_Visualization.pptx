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1" r:id="rId2"/>
  </p:sldMasterIdLst>
  <p:notesMasterIdLst>
    <p:notesMasterId r:id="rId19"/>
  </p:notesMasterIdLst>
  <p:sldIdLst>
    <p:sldId id="299" r:id="rId3"/>
    <p:sldId id="376" r:id="rId4"/>
    <p:sldId id="272" r:id="rId5"/>
    <p:sldId id="374" r:id="rId6"/>
    <p:sldId id="271" r:id="rId7"/>
    <p:sldId id="375" r:id="rId8"/>
    <p:sldId id="377" r:id="rId9"/>
    <p:sldId id="378" r:id="rId10"/>
    <p:sldId id="321" r:id="rId11"/>
    <p:sldId id="372" r:id="rId12"/>
    <p:sldId id="273" r:id="rId13"/>
    <p:sldId id="296" r:id="rId14"/>
    <p:sldId id="373" r:id="rId15"/>
    <p:sldId id="262" r:id="rId16"/>
    <p:sldId id="325" r:id="rId17"/>
    <p:sldId id="3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D1CE9B-DF25-4FEC-06DE-212637DD9CB8}" name="Katie Owers Bonner" initials="KO" userId="S::f008496@dartmouth.edu::031be739-2ca3-49bb-9134-32c5274b02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5A9B08-6B64-4261-AD91-5F59BA8C75C2}" v="1387" dt="2026-03-17T18:35:30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9" autoAdjust="0"/>
    <p:restoredTop sz="94164" autoAdjust="0"/>
  </p:normalViewPr>
  <p:slideViewPr>
    <p:cSldViewPr snapToGrid="0">
      <p:cViewPr varScale="1">
        <p:scale>
          <a:sx n="149" d="100"/>
          <a:sy n="149" d="100"/>
        </p:scale>
        <p:origin x="112" y="1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8/10/relationships/authors" Target="authors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ie Owers Bonner" userId="031be739-2ca3-49bb-9134-32c5274b029d" providerId="ADAL" clId="{A2AFF3C0-B35D-4D35-896C-645D8DA4EEB0}"/>
    <pc:docChg chg="undo custSel addSld delSld modSld sldOrd">
      <pc:chgData name="Katie Owers Bonner" userId="031be739-2ca3-49bb-9134-32c5274b029d" providerId="ADAL" clId="{A2AFF3C0-B35D-4D35-896C-645D8DA4EEB0}" dt="2026-03-17T18:35:30.164" v="2053" actId="313"/>
      <pc:docMkLst>
        <pc:docMk/>
      </pc:docMkLst>
      <pc:sldChg chg="addSp delSp modSp mod ord">
        <pc:chgData name="Katie Owers Bonner" userId="031be739-2ca3-49bb-9134-32c5274b029d" providerId="ADAL" clId="{A2AFF3C0-B35D-4D35-896C-645D8DA4EEB0}" dt="2026-02-20T18:34:02.219" v="273"/>
        <pc:sldMkLst>
          <pc:docMk/>
          <pc:sldMk cId="0" sldId="262"/>
        </pc:sldMkLst>
        <pc:picChg chg="add mod">
          <ac:chgData name="Katie Owers Bonner" userId="031be739-2ca3-49bb-9134-32c5274b029d" providerId="ADAL" clId="{A2AFF3C0-B35D-4D35-896C-645D8DA4EEB0}" dt="2026-02-20T18:34:02.219" v="273"/>
          <ac:picMkLst>
            <pc:docMk/>
            <pc:sldMk cId="0" sldId="262"/>
            <ac:picMk id="2" creationId="{031D565E-E84A-327E-9DB9-8ED8ACE4E426}"/>
          </ac:picMkLst>
        </pc:picChg>
      </pc:sldChg>
      <pc:sldChg chg="del">
        <pc:chgData name="Katie Owers Bonner" userId="031be739-2ca3-49bb-9134-32c5274b029d" providerId="ADAL" clId="{A2AFF3C0-B35D-4D35-896C-645D8DA4EEB0}" dt="2026-03-17T18:29:14.382" v="1602" actId="47"/>
        <pc:sldMkLst>
          <pc:docMk/>
          <pc:sldMk cId="2372691659" sldId="266"/>
        </pc:sldMkLst>
      </pc:sldChg>
      <pc:sldChg chg="modSp mod">
        <pc:chgData name="Katie Owers Bonner" userId="031be739-2ca3-49bb-9134-32c5274b029d" providerId="ADAL" clId="{A2AFF3C0-B35D-4D35-896C-645D8DA4EEB0}" dt="2026-03-17T18:35:17.488" v="2052" actId="13926"/>
        <pc:sldMkLst>
          <pc:docMk/>
          <pc:sldMk cId="1346459711" sldId="271"/>
        </pc:sldMkLst>
        <pc:spChg chg="mod">
          <ac:chgData name="Katie Owers Bonner" userId="031be739-2ca3-49bb-9134-32c5274b029d" providerId="ADAL" clId="{A2AFF3C0-B35D-4D35-896C-645D8DA4EEB0}" dt="2026-03-17T18:35:17.488" v="2052" actId="13926"/>
          <ac:spMkLst>
            <pc:docMk/>
            <pc:sldMk cId="1346459711" sldId="271"/>
            <ac:spMk id="141" creationId="{993F69D1-CC3C-F9B0-18CC-97B4ED7CF835}"/>
          </ac:spMkLst>
        </pc:spChg>
      </pc:sldChg>
      <pc:sldChg chg="modSp mod ord">
        <pc:chgData name="Katie Owers Bonner" userId="031be739-2ca3-49bb-9134-32c5274b029d" providerId="ADAL" clId="{A2AFF3C0-B35D-4D35-896C-645D8DA4EEB0}" dt="2026-03-17T18:17:04.777" v="1587"/>
        <pc:sldMkLst>
          <pc:docMk/>
          <pc:sldMk cId="4126705857" sldId="272"/>
        </pc:sldMkLst>
        <pc:spChg chg="mod">
          <ac:chgData name="Katie Owers Bonner" userId="031be739-2ca3-49bb-9134-32c5274b029d" providerId="ADAL" clId="{A2AFF3C0-B35D-4D35-896C-645D8DA4EEB0}" dt="2026-03-17T14:53:35.451" v="375" actId="20577"/>
          <ac:spMkLst>
            <pc:docMk/>
            <pc:sldMk cId="4126705857" sldId="272"/>
            <ac:spMk id="141" creationId="{E1BF5683-D6F4-7C8F-FD88-A6220438308F}"/>
          </ac:spMkLst>
        </pc:spChg>
        <pc:spChg chg="mod">
          <ac:chgData name="Katie Owers Bonner" userId="031be739-2ca3-49bb-9134-32c5274b029d" providerId="ADAL" clId="{A2AFF3C0-B35D-4D35-896C-645D8DA4EEB0}" dt="2026-03-17T17:52:35.076" v="573" actId="13926"/>
          <ac:spMkLst>
            <pc:docMk/>
            <pc:sldMk cId="4126705857" sldId="272"/>
            <ac:spMk id="142" creationId="{1F33F10C-E37B-AAC3-E67B-2ECA203B4738}"/>
          </ac:spMkLst>
        </pc:spChg>
      </pc:sldChg>
      <pc:sldChg chg="add">
        <pc:chgData name="Katie Owers Bonner" userId="031be739-2ca3-49bb-9134-32c5274b029d" providerId="ADAL" clId="{A2AFF3C0-B35D-4D35-896C-645D8DA4EEB0}" dt="2026-03-17T18:29:29.514" v="1604"/>
        <pc:sldMkLst>
          <pc:docMk/>
          <pc:sldMk cId="713113970" sldId="273"/>
        </pc:sldMkLst>
      </pc:sldChg>
      <pc:sldChg chg="modSp del mod ord">
        <pc:chgData name="Katie Owers Bonner" userId="031be739-2ca3-49bb-9134-32c5274b029d" providerId="ADAL" clId="{A2AFF3C0-B35D-4D35-896C-645D8DA4EEB0}" dt="2026-03-17T18:29:25.328" v="1603" actId="2696"/>
        <pc:sldMkLst>
          <pc:docMk/>
          <pc:sldMk cId="1227487870" sldId="273"/>
        </pc:sldMkLst>
        <pc:spChg chg="mod">
          <ac:chgData name="Katie Owers Bonner" userId="031be739-2ca3-49bb-9134-32c5274b029d" providerId="ADAL" clId="{A2AFF3C0-B35D-4D35-896C-645D8DA4EEB0}" dt="2026-03-17T17:52:55.851" v="589" actId="20577"/>
          <ac:spMkLst>
            <pc:docMk/>
            <pc:sldMk cId="1227487870" sldId="273"/>
            <ac:spMk id="142" creationId="{9B72596A-D557-1CA0-4098-0B9E3210C40F}"/>
          </ac:spMkLst>
        </pc:spChg>
      </pc:sldChg>
      <pc:sldChg chg="ord">
        <pc:chgData name="Katie Owers Bonner" userId="031be739-2ca3-49bb-9134-32c5274b029d" providerId="ADAL" clId="{A2AFF3C0-B35D-4D35-896C-645D8DA4EEB0}" dt="2026-03-17T18:29:10.728" v="1601"/>
        <pc:sldMkLst>
          <pc:docMk/>
          <pc:sldMk cId="536404643" sldId="296"/>
        </pc:sldMkLst>
      </pc:sldChg>
      <pc:sldChg chg="addSp delSp modSp mod">
        <pc:chgData name="Katie Owers Bonner" userId="031be739-2ca3-49bb-9134-32c5274b029d" providerId="ADAL" clId="{A2AFF3C0-B35D-4D35-896C-645D8DA4EEB0}" dt="2026-03-17T18:16:18.611" v="1585" actId="403"/>
        <pc:sldMkLst>
          <pc:docMk/>
          <pc:sldMk cId="0" sldId="299"/>
        </pc:sldMkLst>
        <pc:spChg chg="add del mod">
          <ac:chgData name="Katie Owers Bonner" userId="031be739-2ca3-49bb-9134-32c5274b029d" providerId="ADAL" clId="{A2AFF3C0-B35D-4D35-896C-645D8DA4EEB0}" dt="2026-03-17T14:52:01.076" v="284" actId="478"/>
          <ac:spMkLst>
            <pc:docMk/>
            <pc:sldMk cId="0" sldId="299"/>
            <ac:spMk id="2" creationId="{386FDDD1-D910-EC0C-10CA-5B190FA684F9}"/>
          </ac:spMkLst>
        </pc:spChg>
        <pc:spChg chg="mod">
          <ac:chgData name="Katie Owers Bonner" userId="031be739-2ca3-49bb-9134-32c5274b029d" providerId="ADAL" clId="{A2AFF3C0-B35D-4D35-896C-645D8DA4EEB0}" dt="2026-03-17T14:52:44.250" v="370" actId="1076"/>
          <ac:spMkLst>
            <pc:docMk/>
            <pc:sldMk cId="0" sldId="299"/>
            <ac:spMk id="109" creationId="{00000000-0000-0000-0000-000000000000}"/>
          </ac:spMkLst>
        </pc:spChg>
        <pc:spChg chg="mod">
          <ac:chgData name="Katie Owers Bonner" userId="031be739-2ca3-49bb-9134-32c5274b029d" providerId="ADAL" clId="{A2AFF3C0-B35D-4D35-896C-645D8DA4EEB0}" dt="2026-03-17T18:16:18.611" v="1585" actId="403"/>
          <ac:spMkLst>
            <pc:docMk/>
            <pc:sldMk cId="0" sldId="299"/>
            <ac:spMk id="111" creationId="{00000000-0000-0000-0000-000000000000}"/>
          </ac:spMkLst>
        </pc:spChg>
        <pc:spChg chg="mod">
          <ac:chgData name="Katie Owers Bonner" userId="031be739-2ca3-49bb-9134-32c5274b029d" providerId="ADAL" clId="{A2AFF3C0-B35D-4D35-896C-645D8DA4EEB0}" dt="2026-03-17T17:49:49.892" v="522" actId="1076"/>
          <ac:spMkLst>
            <pc:docMk/>
            <pc:sldMk cId="0" sldId="299"/>
            <ac:spMk id="112" creationId="{00000000-0000-0000-0000-000000000000}"/>
          </ac:spMkLst>
        </pc:spChg>
      </pc:sldChg>
      <pc:sldChg chg="del">
        <pc:chgData name="Katie Owers Bonner" userId="031be739-2ca3-49bb-9134-32c5274b029d" providerId="ADAL" clId="{A2AFF3C0-B35D-4D35-896C-645D8DA4EEB0}" dt="2026-03-17T18:29:14.382" v="1602" actId="47"/>
        <pc:sldMkLst>
          <pc:docMk/>
          <pc:sldMk cId="3594546687" sldId="300"/>
        </pc:sldMkLst>
      </pc:sldChg>
      <pc:sldChg chg="addSp modSp mod modNotesTx">
        <pc:chgData name="Katie Owers Bonner" userId="031be739-2ca3-49bb-9134-32c5274b029d" providerId="ADAL" clId="{A2AFF3C0-B35D-4D35-896C-645D8DA4EEB0}" dt="2026-03-17T18:12:46.612" v="1583" actId="20577"/>
        <pc:sldMkLst>
          <pc:docMk/>
          <pc:sldMk cId="3846199407" sldId="321"/>
        </pc:sldMkLst>
        <pc:spChg chg="add mod">
          <ac:chgData name="Katie Owers Bonner" userId="031be739-2ca3-49bb-9134-32c5274b029d" providerId="ADAL" clId="{A2AFF3C0-B35D-4D35-896C-645D8DA4EEB0}" dt="2026-03-17T18:12:28.302" v="1582" actId="1076"/>
          <ac:spMkLst>
            <pc:docMk/>
            <pc:sldMk cId="3846199407" sldId="321"/>
            <ac:spMk id="2" creationId="{C666E518-A04F-6DE0-C306-91FE81E92306}"/>
          </ac:spMkLst>
        </pc:spChg>
        <pc:spChg chg="mod">
          <ac:chgData name="Katie Owers Bonner" userId="031be739-2ca3-49bb-9134-32c5274b029d" providerId="ADAL" clId="{A2AFF3C0-B35D-4D35-896C-645D8DA4EEB0}" dt="2026-03-17T18:12:01.618" v="1544" actId="20577"/>
          <ac:spMkLst>
            <pc:docMk/>
            <pc:sldMk cId="3846199407" sldId="321"/>
            <ac:spMk id="158" creationId="{F0B4E771-CF6F-C6B2-8CF5-60A162B78732}"/>
          </ac:spMkLst>
        </pc:spChg>
      </pc:sldChg>
      <pc:sldChg chg="del">
        <pc:chgData name="Katie Owers Bonner" userId="031be739-2ca3-49bb-9134-32c5274b029d" providerId="ADAL" clId="{A2AFF3C0-B35D-4D35-896C-645D8DA4EEB0}" dt="2026-03-17T18:29:14.382" v="1602" actId="47"/>
        <pc:sldMkLst>
          <pc:docMk/>
          <pc:sldMk cId="2972185394" sldId="322"/>
        </pc:sldMkLst>
      </pc:sldChg>
      <pc:sldChg chg="modSp mod ord">
        <pc:chgData name="Katie Owers Bonner" userId="031be739-2ca3-49bb-9134-32c5274b029d" providerId="ADAL" clId="{A2AFF3C0-B35D-4D35-896C-645D8DA4EEB0}" dt="2026-03-17T18:28:59.296" v="1599" actId="20577"/>
        <pc:sldMkLst>
          <pc:docMk/>
          <pc:sldMk cId="825263348" sldId="372"/>
        </pc:sldMkLst>
        <pc:spChg chg="mod">
          <ac:chgData name="Katie Owers Bonner" userId="031be739-2ca3-49bb-9134-32c5274b029d" providerId="ADAL" clId="{A2AFF3C0-B35D-4D35-896C-645D8DA4EEB0}" dt="2026-03-17T18:28:59.296" v="1599" actId="20577"/>
          <ac:spMkLst>
            <pc:docMk/>
            <pc:sldMk cId="825263348" sldId="372"/>
            <ac:spMk id="134" creationId="{64477353-763A-15A6-FAA3-7320FC3B4337}"/>
          </ac:spMkLst>
        </pc:spChg>
      </pc:sldChg>
      <pc:sldChg chg="modSp mod">
        <pc:chgData name="Katie Owers Bonner" userId="031be739-2ca3-49bb-9134-32c5274b029d" providerId="ADAL" clId="{A2AFF3C0-B35D-4D35-896C-645D8DA4EEB0}" dt="2026-03-17T14:53:19.348" v="371" actId="6549"/>
        <pc:sldMkLst>
          <pc:docMk/>
          <pc:sldMk cId="561263410" sldId="373"/>
        </pc:sldMkLst>
        <pc:spChg chg="mod">
          <ac:chgData name="Katie Owers Bonner" userId="031be739-2ca3-49bb-9134-32c5274b029d" providerId="ADAL" clId="{A2AFF3C0-B35D-4D35-896C-645D8DA4EEB0}" dt="2026-03-17T14:53:19.348" v="371" actId="6549"/>
          <ac:spMkLst>
            <pc:docMk/>
            <pc:sldMk cId="561263410" sldId="373"/>
            <ac:spMk id="142" creationId="{8229FF6B-D149-2742-DA82-46DC413AE17A}"/>
          </ac:spMkLst>
        </pc:spChg>
      </pc:sldChg>
      <pc:sldChg chg="modSp add mod ord modAnim">
        <pc:chgData name="Katie Owers Bonner" userId="031be739-2ca3-49bb-9134-32c5274b029d" providerId="ADAL" clId="{A2AFF3C0-B35D-4D35-896C-645D8DA4EEB0}" dt="2026-03-17T18:35:02.394" v="2051" actId="6549"/>
        <pc:sldMkLst>
          <pc:docMk/>
          <pc:sldMk cId="2108451283" sldId="374"/>
        </pc:sldMkLst>
        <pc:spChg chg="mod">
          <ac:chgData name="Katie Owers Bonner" userId="031be739-2ca3-49bb-9134-32c5274b029d" providerId="ADAL" clId="{A2AFF3C0-B35D-4D35-896C-645D8DA4EEB0}" dt="2026-03-17T14:54:04.576" v="389" actId="20577"/>
          <ac:spMkLst>
            <pc:docMk/>
            <pc:sldMk cId="2108451283" sldId="374"/>
            <ac:spMk id="141" creationId="{28F7679F-BF0C-A310-0795-BC91E28F244D}"/>
          </ac:spMkLst>
        </pc:spChg>
        <pc:spChg chg="mod">
          <ac:chgData name="Katie Owers Bonner" userId="031be739-2ca3-49bb-9134-32c5274b029d" providerId="ADAL" clId="{A2AFF3C0-B35D-4D35-896C-645D8DA4EEB0}" dt="2026-03-17T18:35:02.394" v="2051" actId="6549"/>
          <ac:spMkLst>
            <pc:docMk/>
            <pc:sldMk cId="2108451283" sldId="374"/>
            <ac:spMk id="142" creationId="{06A0A712-F181-1D85-F787-3A5773813EFF}"/>
          </ac:spMkLst>
        </pc:spChg>
      </pc:sldChg>
      <pc:sldChg chg="add del">
        <pc:chgData name="Katie Owers Bonner" userId="031be739-2ca3-49bb-9134-32c5274b029d" providerId="ADAL" clId="{A2AFF3C0-B35D-4D35-896C-645D8DA4EEB0}" dt="2026-03-17T14:56:01.654" v="425" actId="47"/>
        <pc:sldMkLst>
          <pc:docMk/>
          <pc:sldMk cId="1308268407" sldId="375"/>
        </pc:sldMkLst>
      </pc:sldChg>
      <pc:sldChg chg="modSp add mod ord modAnim">
        <pc:chgData name="Katie Owers Bonner" userId="031be739-2ca3-49bb-9134-32c5274b029d" providerId="ADAL" clId="{A2AFF3C0-B35D-4D35-896C-645D8DA4EEB0}" dt="2026-03-17T18:01:07.431" v="1155" actId="20577"/>
        <pc:sldMkLst>
          <pc:docMk/>
          <pc:sldMk cId="2525792485" sldId="375"/>
        </pc:sldMkLst>
        <pc:spChg chg="mod">
          <ac:chgData name="Katie Owers Bonner" userId="031be739-2ca3-49bb-9134-32c5274b029d" providerId="ADAL" clId="{A2AFF3C0-B35D-4D35-896C-645D8DA4EEB0}" dt="2026-03-17T17:54:01.440" v="607" actId="20577"/>
          <ac:spMkLst>
            <pc:docMk/>
            <pc:sldMk cId="2525792485" sldId="375"/>
            <ac:spMk id="141" creationId="{8DC7234E-D843-D860-8806-2D09C2AD98A2}"/>
          </ac:spMkLst>
        </pc:spChg>
        <pc:spChg chg="mod">
          <ac:chgData name="Katie Owers Bonner" userId="031be739-2ca3-49bb-9134-32c5274b029d" providerId="ADAL" clId="{A2AFF3C0-B35D-4D35-896C-645D8DA4EEB0}" dt="2026-03-17T18:01:07.431" v="1155" actId="20577"/>
          <ac:spMkLst>
            <pc:docMk/>
            <pc:sldMk cId="2525792485" sldId="375"/>
            <ac:spMk id="142" creationId="{400B43C7-AE23-4859-5417-F9F09FF63AAD}"/>
          </ac:spMkLst>
        </pc:spChg>
      </pc:sldChg>
      <pc:sldChg chg="modSp add mod">
        <pc:chgData name="Katie Owers Bonner" userId="031be739-2ca3-49bb-9134-32c5274b029d" providerId="ADAL" clId="{A2AFF3C0-B35D-4D35-896C-645D8DA4EEB0}" dt="2026-03-17T17:51:11.715" v="539" actId="1076"/>
        <pc:sldMkLst>
          <pc:docMk/>
          <pc:sldMk cId="3691630995" sldId="376"/>
        </pc:sldMkLst>
        <pc:spChg chg="mod">
          <ac:chgData name="Katie Owers Bonner" userId="031be739-2ca3-49bb-9134-32c5274b029d" providerId="ADAL" clId="{A2AFF3C0-B35D-4D35-896C-645D8DA4EEB0}" dt="2026-03-17T17:51:08.475" v="538" actId="5793"/>
          <ac:spMkLst>
            <pc:docMk/>
            <pc:sldMk cId="3691630995" sldId="376"/>
            <ac:spMk id="141" creationId="{F570BA1C-399F-EAD6-F0E9-8014736EF252}"/>
          </ac:spMkLst>
        </pc:spChg>
        <pc:spChg chg="mod">
          <ac:chgData name="Katie Owers Bonner" userId="031be739-2ca3-49bb-9134-32c5274b029d" providerId="ADAL" clId="{A2AFF3C0-B35D-4D35-896C-645D8DA4EEB0}" dt="2026-03-17T17:51:11.715" v="539" actId="1076"/>
          <ac:spMkLst>
            <pc:docMk/>
            <pc:sldMk cId="3691630995" sldId="376"/>
            <ac:spMk id="142" creationId="{CEF0492E-90EB-7879-1C58-587861C38DEC}"/>
          </ac:spMkLst>
        </pc:spChg>
      </pc:sldChg>
      <pc:sldChg chg="modSp add mod modAnim">
        <pc:chgData name="Katie Owers Bonner" userId="031be739-2ca3-49bb-9134-32c5274b029d" providerId="ADAL" clId="{A2AFF3C0-B35D-4D35-896C-645D8DA4EEB0}" dt="2026-03-17T18:35:30.164" v="2053" actId="313"/>
        <pc:sldMkLst>
          <pc:docMk/>
          <pc:sldMk cId="1945847000" sldId="377"/>
        </pc:sldMkLst>
        <pc:spChg chg="mod">
          <ac:chgData name="Katie Owers Bonner" userId="031be739-2ca3-49bb-9134-32c5274b029d" providerId="ADAL" clId="{A2AFF3C0-B35D-4D35-896C-645D8DA4EEB0}" dt="2026-03-17T17:59:56.303" v="984" actId="20577"/>
          <ac:spMkLst>
            <pc:docMk/>
            <pc:sldMk cId="1945847000" sldId="377"/>
            <ac:spMk id="141" creationId="{76722DDA-3847-732D-2AA6-447B0EC3F376}"/>
          </ac:spMkLst>
        </pc:spChg>
        <pc:spChg chg="mod">
          <ac:chgData name="Katie Owers Bonner" userId="031be739-2ca3-49bb-9134-32c5274b029d" providerId="ADAL" clId="{A2AFF3C0-B35D-4D35-896C-645D8DA4EEB0}" dt="2026-03-17T18:35:30.164" v="2053" actId="313"/>
          <ac:spMkLst>
            <pc:docMk/>
            <pc:sldMk cId="1945847000" sldId="377"/>
            <ac:spMk id="142" creationId="{1CB4D723-472C-B019-5356-2F29290E15E3}"/>
          </ac:spMkLst>
        </pc:spChg>
      </pc:sldChg>
      <pc:sldChg chg="modSp add mod modAnim">
        <pc:chgData name="Katie Owers Bonner" userId="031be739-2ca3-49bb-9134-32c5274b029d" providerId="ADAL" clId="{A2AFF3C0-B35D-4D35-896C-645D8DA4EEB0}" dt="2026-03-17T18:07:32.491" v="1524" actId="20577"/>
        <pc:sldMkLst>
          <pc:docMk/>
          <pc:sldMk cId="288270584" sldId="378"/>
        </pc:sldMkLst>
        <pc:spChg chg="mod">
          <ac:chgData name="Katie Owers Bonner" userId="031be739-2ca3-49bb-9134-32c5274b029d" providerId="ADAL" clId="{A2AFF3C0-B35D-4D35-896C-645D8DA4EEB0}" dt="2026-03-17T18:07:32.491" v="1524" actId="20577"/>
          <ac:spMkLst>
            <pc:docMk/>
            <pc:sldMk cId="288270584" sldId="378"/>
            <ac:spMk id="141" creationId="{B675CB76-CAEA-E823-5C9B-13AC524E5FE0}"/>
          </ac:spMkLst>
        </pc:spChg>
        <pc:spChg chg="mod">
          <ac:chgData name="Katie Owers Bonner" userId="031be739-2ca3-49bb-9134-32c5274b029d" providerId="ADAL" clId="{A2AFF3C0-B35D-4D35-896C-645D8DA4EEB0}" dt="2026-03-17T18:06:58.715" v="1500" actId="20577"/>
          <ac:spMkLst>
            <pc:docMk/>
            <pc:sldMk cId="288270584" sldId="378"/>
            <ac:spMk id="142" creationId="{05116371-47C9-8782-06AA-348A80CC5398}"/>
          </ac:spMkLst>
        </pc:spChg>
      </pc:sldChg>
      <pc:sldChg chg="add del">
        <pc:chgData name="Katie Owers Bonner" userId="031be739-2ca3-49bb-9134-32c5274b029d" providerId="ADAL" clId="{A2AFF3C0-B35D-4D35-896C-645D8DA4EEB0}" dt="2026-03-17T18:29:14.382" v="1602" actId="47"/>
        <pc:sldMkLst>
          <pc:docMk/>
          <pc:sldMk cId="3264595192" sldId="3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BCB6A-05C9-45C4-8C56-4DA0982723A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D22BE-BF9C-4E75-AC94-2D675188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36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people are joining - put something you're looking forward to this month in the chat!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843DD529-3493-06B8-8FDE-196133A3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BA9EFEE8-D629-6146-4D3F-694519D939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D3774C82-5592-E6AF-B9F0-B4CEDDBF2D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3362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09DADC13-2699-00A3-93AF-6AD01578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5E64E48B-396E-256A-5BCB-5142DD864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A2869BC7-2B47-AF38-88CF-ED7B8FCE6F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0492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9FBBD1C0-F75B-4C99-1893-CACCB9573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F8FCBFD8-1142-182E-2391-F84C181166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18BC6206-E4A9-19BA-AA77-E7BA6A9E10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1624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665FF49C-22CA-561F-4B1C-B554BD230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EB81FA88-F081-E86D-B5FA-4C31DE2AAF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59B712AF-C346-B441-CEFD-BF22EDA721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9261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7360DF1-A1EA-AC22-617D-02A21B8C9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F08599CE-AE56-C891-BF0B-C541EC1659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ED0129B3-F909-A6A6-5BE8-B76A24CDA3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5881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C012A7D-F098-1941-C13F-907BA8434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C77948B1-D4E9-79AB-FAF7-27E664F85C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15C7B303-35AF-29FF-F107-C18B6C5AA3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5928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F2D9935-BC7C-D671-804B-DC9B7B69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A3A2CE1F-A67E-011D-CD11-31007D6375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795A1F8D-7F93-473B-92AB-3EE45591A3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4275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2BA011E6-134D-151C-AD28-4AA22971D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>
            <a:extLst>
              <a:ext uri="{FF2B5EF4-FFF2-40B4-BE49-F238E27FC236}">
                <a16:creationId xmlns:a16="http://schemas.microsoft.com/office/drawing/2014/main" id="{4EFC36F4-02D7-B6FE-07B6-86360A788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3:notes">
            <a:extLst>
              <a:ext uri="{FF2B5EF4-FFF2-40B4-BE49-F238E27FC236}">
                <a16:creationId xmlns:a16="http://schemas.microsoft.com/office/drawing/2014/main" id="{236D2ACB-930C-5EAA-9C08-7FC1B2632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0453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673AE1B5-6C76-778B-B2CE-6FE7542F2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450FC169-3522-9425-2494-DD68537006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DC25B693-6CA7-57E4-D62F-C555B6186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2916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0BD02D6-750D-D3FC-2CBB-D9FB5367F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3D008D43-143C-3D5B-9AB3-4DBB414A23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15FCE76D-A8AD-5554-87B8-6EF1C53AE4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9175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DEFA8231-8678-1AC0-6FF2-736056E64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67368B8A-E1E1-7564-E9D6-11986AC8B0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9E234D9D-19ED-CF71-80AD-C4060C3D33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57714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6A54E004-FA4F-360F-0033-A48395B5D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2B10A233-D7F9-5C4C-D586-1332E71F24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22C75C2A-433F-C9C5-A500-F6E0ABDA2E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58946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2C8219D7-4798-73BC-5B9F-124021007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52A13A83-1059-303F-DB12-FBC39FB25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 this flow is specific to the data aspects of a project and does not include critical steps like literature review and hypothesis formulation.</a:t>
            </a: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9120B126-7495-ED4D-95AF-D053BF1C5B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7950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511F11B-19A8-0589-8EAC-0A2BDC6BC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9ACCE4B3-B38E-7360-8B94-D60DD49D74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 this flow is specific to the data aspects of a project and does not include critical steps like literature review and hypothesis formulation.</a:t>
            </a: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662FD663-B329-75E2-5F62-59BA65C258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7471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0AC5-99DB-31B8-8BC3-993B07585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C36C6-9142-697C-CB39-B7057F858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EC6FB-A9F3-C0CF-5436-DBE814C4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748DB-6D25-224A-3048-8EFF22FA9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3A5AB-B3E4-4293-CF8D-DA6DAF31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7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4272F-AC80-7861-E4DF-35A7FFB9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9AAE5-D53A-E3D2-65C9-9C0C3B328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DD51B-35A6-DC7B-8029-23DFAB4B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0D6C2-C857-75DD-7A94-F4AEA8DED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CD09E-8C9F-16EA-A186-423159F8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6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5980-6C8D-6923-1F87-667FD99A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05B5D-79BA-008C-4717-5BF5ABB10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DF499-C888-A235-A6E8-A813577A8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C188D-007F-CFF4-8294-15226899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933A4-366F-80B6-A34E-CBB937FB7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1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7DEBA-9CBA-1A8D-7218-2CC5428BD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9DC86-762F-1618-8580-E38264F1B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C499E-099B-76B9-58A1-21E8057D7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271BD-A5C3-F9D1-439B-471E90135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37A1A-D6F8-7923-BA15-4B4C7DC0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204BF-26B0-622E-E983-541582AD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97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38C0-C3D9-E655-0FBD-318426609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0BF89-1571-7020-A6B7-21E8CE1F3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BF357-38D9-E1D4-CDD8-C3E13C513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CFBE2-CDF9-404B-C8AA-F8E6D5EC7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D1F975-F813-FD9B-4DCF-4985E9B1A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9DA69E-8482-F147-447D-55701C12C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310D66-C562-5FF8-40F6-3207E8765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67365-7E7F-ED25-9FB9-CA3AB7D71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70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0CFD-8F45-23AE-7E1D-C7D98FB0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6CF317-B113-E985-8559-AE845AD64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20A2F-3D43-75FD-4193-9949179E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B67CC-7DDA-2F49-1B45-9C095BB1D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0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983077-85E3-6754-AF11-23526BB8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A8293A-6D56-28CF-807D-DBE13492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63639-D2C6-7C4B-A77A-7C859637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9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53735-2859-676C-4862-A63CC7EBF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1352B-1FD0-6DCC-75F6-9F5780E93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3A4ED-9907-9950-8091-88D634157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FAF96-7803-6E2F-7E4A-7F834201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D6E87-AB55-AD33-0F7E-4146276F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04ADE-B458-7490-9D34-8CFE721D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6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64B7-CA35-F9AF-158E-D1E57FF85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F06683-A988-3389-E854-3F3F60058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6D405-D1F2-3E1E-CAAC-E2AA72BEB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5954B-74DE-2CF1-A7D2-EDAB657C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45768-A4D8-0448-B78F-C94FCBA7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902CC-B769-60C6-4803-C97FF3B3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40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62B9-BF0F-FE3D-D867-72E39968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5E3DF-031A-4339-A54E-568BF11A1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91202-0928-6953-5452-B36AC91A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F51A5-17B7-4943-5754-F9AA026B9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106A8-70E6-43DB-592F-C162AFC9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72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6F6698-DA36-BB51-FBD4-1DA0D8F5F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3A653-196E-0CD4-7770-A0BC483DC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65D8E-35B6-D092-E04A-73028A3A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49CFB-ADBC-231E-E1B1-FE192424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24C26-95D0-7609-1954-D93C3CE64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65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 Basic" type="picTx">
  <p:cSld name="Closing Slide Basic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10488666" y="-1830709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0" y="0"/>
            <a:ext cx="3046130" cy="1477392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471500" y="2318208"/>
            <a:ext cx="11249000" cy="1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2312B"/>
              </a:buClr>
              <a:buSzPts val="10000"/>
              <a:buFont typeface="Anton"/>
              <a:buNone/>
              <a:defRPr sz="6667" i="0" u="none" strike="noStrike" cap="none">
                <a:solidFill>
                  <a:srgbClr val="12312B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9pPr>
          </a:lstStyle>
          <a:p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615500" y="36700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5231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and Grid White Background">
  <p:cSld name="Green Logo and Grid White Background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10904678" y="-905531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0" y="0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3547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and Grid Green Background" type="blank">
  <p:cSld name="White Logo and Grid Green Background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1054028" y="-829014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1" y="0"/>
            <a:ext cx="1909799" cy="955960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45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and Grid White Background">
  <p:cSld name="Green Logo and Grid White Background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10904678" y="-905531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0" y="0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8580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and Blue Swish Option 1">
  <p:cSld name="Logo and Blue Swish Option 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>
          <a:xfrm>
            <a:off x="9962086" y="3353950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5"/>
          <p:cNvSpPr/>
          <p:nvPr/>
        </p:nvSpPr>
        <p:spPr>
          <a:xfrm>
            <a:off x="0" y="0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0675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and Blue Swish Option 2">
  <p:cSld name="Logo and Blue Swish Option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/>
          <p:nvPr/>
        </p:nvSpPr>
        <p:spPr>
          <a:xfrm>
            <a:off x="-1016265" y="-1926417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6"/>
          <p:cNvSpPr/>
          <p:nvPr/>
        </p:nvSpPr>
        <p:spPr>
          <a:xfrm>
            <a:off x="10673717" y="6121584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47394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-570831" y="2964183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784667" y="1922964"/>
            <a:ext cx="112490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nton"/>
              <a:buNone/>
              <a:defRPr sz="6667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25" name="Google Shape;25;p7"/>
          <p:cNvSpPr/>
          <p:nvPr/>
        </p:nvSpPr>
        <p:spPr>
          <a:xfrm>
            <a:off x="10946761" y="-903714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4171950" y="7141095"/>
            <a:ext cx="5345400" cy="119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934">
              <a:solidFill>
                <a:srgbClr val="00693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903200" y="3066817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9" r="-19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890546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or Contents Page alternate logo placement" type="secHead">
  <p:cSld name="Agenda or Contents Page alternate logo placem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10352693" y="5983889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9"/>
          <p:cNvSpPr/>
          <p:nvPr/>
        </p:nvSpPr>
        <p:spPr>
          <a:xfrm>
            <a:off x="-899356" y="-895481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654900" y="17212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59178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Slide Option 2" type="twoTxTwoObj">
  <p:cSld name="Intro Slide Option 2">
    <p:bg>
      <p:bgPr>
        <a:solidFill>
          <a:srgbClr val="00693D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/>
          <p:nvPr/>
        </p:nvSpPr>
        <p:spPr>
          <a:xfrm>
            <a:off x="802544" y="1510467"/>
            <a:ext cx="1300075" cy="1086732"/>
          </a:xfrm>
          <a:custGeom>
            <a:avLst/>
            <a:gdLst/>
            <a:ahLst/>
            <a:cxnLst/>
            <a:rect l="l" t="t" r="r" b="b"/>
            <a:pathLst>
              <a:path w="3578188" h="2597765" extrusionOk="0">
                <a:moveTo>
                  <a:pt x="0" y="0"/>
                </a:moveTo>
                <a:lnTo>
                  <a:pt x="3578188" y="0"/>
                </a:lnTo>
                <a:lnTo>
                  <a:pt x="3578188" y="2597765"/>
                </a:lnTo>
                <a:lnTo>
                  <a:pt x="0" y="2597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69" r="-5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1"/>
          <p:cNvSpPr/>
          <p:nvPr/>
        </p:nvSpPr>
        <p:spPr>
          <a:xfrm>
            <a:off x="10347596" y="5974531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1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2213800" y="1588881"/>
            <a:ext cx="112490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nton"/>
              <a:buNone/>
              <a:defRPr sz="4334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7686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Box and Text">
  <p:cSld name="Photo Box and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>
            <a:spLocks noGrp="1"/>
          </p:cNvSpPr>
          <p:nvPr>
            <p:ph type="pic" idx="2"/>
          </p:nvPr>
        </p:nvSpPr>
        <p:spPr>
          <a:xfrm>
            <a:off x="28217" y="1050150"/>
            <a:ext cx="4331600" cy="5451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2"/>
          <p:cNvSpPr/>
          <p:nvPr/>
        </p:nvSpPr>
        <p:spPr>
          <a:xfrm>
            <a:off x="28215" y="0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5" y="0"/>
                </a:lnTo>
                <a:lnTo>
                  <a:pt x="2766605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-707765" y="3725167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2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5162783" y="11180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cxnSp>
        <p:nvCxnSpPr>
          <p:cNvPr id="54" name="Google Shape;54;p12"/>
          <p:cNvCxnSpPr/>
          <p:nvPr/>
        </p:nvCxnSpPr>
        <p:spPr>
          <a:xfrm rot="10800000">
            <a:off x="4695752" y="949750"/>
            <a:ext cx="31000" cy="5652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55;p12"/>
          <p:cNvCxnSpPr/>
          <p:nvPr/>
        </p:nvCxnSpPr>
        <p:spPr>
          <a:xfrm rot="10800000">
            <a:off x="4819550" y="1687881"/>
            <a:ext cx="15400" cy="38888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659369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Box and Text Option 2" type="titleOnly">
  <p:cSld name="Photo Box and Text Option 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/>
          <p:nvPr/>
        </p:nvSpPr>
        <p:spPr>
          <a:xfrm>
            <a:off x="28215" y="0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5" y="0"/>
                </a:lnTo>
                <a:lnTo>
                  <a:pt x="2766605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>
            <a:spLocks noGrp="1"/>
          </p:cNvSpPr>
          <p:nvPr>
            <p:ph type="pic" idx="2"/>
          </p:nvPr>
        </p:nvSpPr>
        <p:spPr>
          <a:xfrm>
            <a:off x="7581867" y="1519792"/>
            <a:ext cx="4380200" cy="4259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60" name="Google Shape;60;p13"/>
          <p:cNvCxnSpPr/>
          <p:nvPr/>
        </p:nvCxnSpPr>
        <p:spPr>
          <a:xfrm>
            <a:off x="7331300" y="2134383"/>
            <a:ext cx="37200" cy="3696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13"/>
          <p:cNvCxnSpPr/>
          <p:nvPr/>
        </p:nvCxnSpPr>
        <p:spPr>
          <a:xfrm rot="10800000">
            <a:off x="7994667" y="6080467"/>
            <a:ext cx="3554600" cy="19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" name="Google Shape;62;p13"/>
          <p:cNvCxnSpPr/>
          <p:nvPr/>
        </p:nvCxnSpPr>
        <p:spPr>
          <a:xfrm>
            <a:off x="7201400" y="2805033"/>
            <a:ext cx="18600" cy="25428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3"/>
          <p:cNvCxnSpPr/>
          <p:nvPr/>
        </p:nvCxnSpPr>
        <p:spPr>
          <a:xfrm rot="10800000">
            <a:off x="8477167" y="5929733"/>
            <a:ext cx="2589600" cy="4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/>
          <p:nvPr/>
        </p:nvSpPr>
        <p:spPr>
          <a:xfrm>
            <a:off x="7479798" y="5046500"/>
            <a:ext cx="864729" cy="883240"/>
          </a:xfrm>
          <a:custGeom>
            <a:avLst/>
            <a:gdLst/>
            <a:ahLst/>
            <a:cxnLst/>
            <a:rect l="l" t="t" r="r" b="b"/>
            <a:pathLst>
              <a:path w="3578188" h="2597765" extrusionOk="0">
                <a:moveTo>
                  <a:pt x="0" y="0"/>
                </a:moveTo>
                <a:lnTo>
                  <a:pt x="3578188" y="0"/>
                </a:lnTo>
                <a:lnTo>
                  <a:pt x="3578188" y="2597765"/>
                </a:lnTo>
                <a:lnTo>
                  <a:pt x="0" y="2597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69" r="-5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569067" y="15198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54846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No Grid or Swoosh" type="objTx">
  <p:cSld name="Text Only No Grid or Swoosh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10347596" y="5974531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1543533" y="1674817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76595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No Grid or Swoosh 2">
  <p:cSld name="Text Only No Grid or Swoosh 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-4" y="-3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1543533" y="1674817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53833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 Basic" type="picTx">
  <p:cSld name="Closing Slide Basic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10488666" y="-1830709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0" y="0"/>
            <a:ext cx="3046130" cy="1477392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471500" y="2318208"/>
            <a:ext cx="11249000" cy="1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2312B"/>
              </a:buClr>
              <a:buSzPts val="10000"/>
              <a:buFont typeface="Anton"/>
              <a:buNone/>
              <a:defRPr sz="6667" i="0" u="none" strike="noStrike" cap="none">
                <a:solidFill>
                  <a:srgbClr val="12312B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9pPr>
          </a:lstStyle>
          <a:p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615500" y="36700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41893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Closing Slide with QR Code" type="vertTx">
  <p:cSld name="Dark Closing Slide with QR Code">
    <p:bg>
      <p:bgPr>
        <a:solidFill>
          <a:srgbClr val="12312B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9014051" y="4784199"/>
            <a:ext cx="1547499" cy="1525745"/>
          </a:xfrm>
          <a:custGeom>
            <a:avLst/>
            <a:gdLst/>
            <a:ahLst/>
            <a:cxnLst/>
            <a:rect l="l" t="t" r="r" b="b"/>
            <a:pathLst>
              <a:path w="2149304" h="2080562" extrusionOk="0">
                <a:moveTo>
                  <a:pt x="0" y="0"/>
                </a:moveTo>
                <a:lnTo>
                  <a:pt x="2149304" y="0"/>
                </a:lnTo>
                <a:lnTo>
                  <a:pt x="2149304" y="2080561"/>
                </a:lnTo>
                <a:lnTo>
                  <a:pt x="0" y="2080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110437"/>
            </a:stretch>
          </a:blipFill>
          <a:ln>
            <a:noFill/>
          </a:ln>
        </p:spPr>
      </p:sp>
      <p:sp>
        <p:nvSpPr>
          <p:cNvPr id="80" name="Google Shape;80;p17"/>
          <p:cNvSpPr txBox="1"/>
          <p:nvPr/>
        </p:nvSpPr>
        <p:spPr>
          <a:xfrm>
            <a:off x="9423599" y="5180635"/>
            <a:ext cx="728400" cy="41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*Place QR code here</a:t>
            </a:r>
            <a:endParaRPr sz="333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7507349" y="4784200"/>
            <a:ext cx="1308200" cy="4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18" b="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SCAN</a:t>
            </a:r>
            <a:endParaRPr sz="1200"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308842" y="5233400"/>
            <a:ext cx="1705200" cy="17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48" i="0" u="none" strike="noStrike" cap="none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ME</a:t>
            </a:r>
            <a:endParaRPr sz="10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0" y="0"/>
            <a:ext cx="3047877" cy="1526193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471500" y="2318208"/>
            <a:ext cx="11249000" cy="1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Anton"/>
              <a:buNone/>
              <a:defRPr sz="6667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615517" y="35100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A5D75F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A5D75F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rgbClr val="A5D75F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rgbClr val="A5D75F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rgbClr val="A5D75F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rgbClr val="A5D75F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88904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Closing Slide with QR Code">
  <p:cSld name="White Closing Slide with QR Cod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778100" y="2425706"/>
            <a:ext cx="11249000" cy="14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6822930" y="4923600"/>
            <a:ext cx="1831800" cy="17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5" i="0" u="none" strike="noStrike" cap="none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ME</a:t>
            </a:r>
            <a:endParaRPr sz="120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8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</p:sp>
      <p:sp>
        <p:nvSpPr>
          <p:cNvPr id="92" name="Google Shape;92;p18"/>
          <p:cNvSpPr/>
          <p:nvPr/>
        </p:nvSpPr>
        <p:spPr>
          <a:xfrm>
            <a:off x="8910302" y="4626749"/>
            <a:ext cx="1830491" cy="1636709"/>
          </a:xfrm>
          <a:custGeom>
            <a:avLst/>
            <a:gdLst/>
            <a:ahLst/>
            <a:cxnLst/>
            <a:rect l="l" t="t" r="r" b="b"/>
            <a:pathLst>
              <a:path w="2149304" h="2080562" extrusionOk="0">
                <a:moveTo>
                  <a:pt x="0" y="0"/>
                </a:moveTo>
                <a:lnTo>
                  <a:pt x="2149304" y="0"/>
                </a:lnTo>
                <a:lnTo>
                  <a:pt x="2149304" y="2080561"/>
                </a:lnTo>
                <a:lnTo>
                  <a:pt x="0" y="2080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10437"/>
            </a:stretch>
          </a:blipFill>
          <a:ln>
            <a:noFill/>
          </a:ln>
        </p:spPr>
      </p:sp>
      <p:sp>
        <p:nvSpPr>
          <p:cNvPr id="93" name="Google Shape;93;p18"/>
          <p:cNvSpPr txBox="1"/>
          <p:nvPr/>
        </p:nvSpPr>
        <p:spPr>
          <a:xfrm>
            <a:off x="9305866" y="5111434"/>
            <a:ext cx="744600" cy="47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2" b="0" i="0" u="none" strike="noStrike" cap="none">
                <a:solidFill>
                  <a:srgbClr val="12312B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875" i="0" u="none" strike="noStrike" cap="none">
                <a:solidFill>
                  <a:srgbClr val="12312B"/>
                </a:solidFill>
                <a:latin typeface="Archivo"/>
                <a:ea typeface="Archivo"/>
                <a:cs typeface="Archivo"/>
                <a:sym typeface="Archivo"/>
              </a:rPr>
              <a:t>Place QR code here</a:t>
            </a:r>
            <a:endParaRPr sz="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6947931" y="4467234"/>
            <a:ext cx="1581800" cy="90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85" i="0" u="none" strike="noStrike" cap="none">
                <a:solidFill>
                  <a:srgbClr val="00693D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SCAN</a:t>
            </a:r>
            <a:endParaRPr sz="2200"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856767" y="34752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0245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with Weblink">
  <p:cSld name="Green Logo with Webli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2276400" y="1133617"/>
            <a:ext cx="7639197" cy="3526531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</p:sp>
      <p:sp>
        <p:nvSpPr>
          <p:cNvPr id="98" name="Google Shape;98;p19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12312B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12312B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496446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with Weblink">
  <p:cSld name="White Logo with Weblink">
    <p:bg>
      <p:bgPr>
        <a:solidFill>
          <a:srgbClr val="12312B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A5D75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A5D75F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18259" y="1119151"/>
            <a:ext cx="7638289" cy="3660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96509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with Weblink alternate">
  <p:cSld name="White Logo with Weblink alternate">
    <p:bg>
      <p:bgPr>
        <a:solidFill>
          <a:schemeClr val="dk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A5D75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A5D75F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18259" y="1119151"/>
            <a:ext cx="7638289" cy="3660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1987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-White">
  <p:cSld name="Section Header-White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2329800" y="1709750"/>
            <a:ext cx="90174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93E"/>
              </a:buClr>
              <a:buSzPts val="6000"/>
              <a:buFont typeface="Arial"/>
              <a:buNone/>
              <a:defRPr sz="6000">
                <a:solidFill>
                  <a:srgbClr val="0069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2329800" y="4562450"/>
            <a:ext cx="9017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10855712" y="6424596"/>
            <a:ext cx="49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0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1825625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3651250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5476875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9700" y="5639340"/>
            <a:ext cx="1993825" cy="95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550" y="2805988"/>
            <a:ext cx="1828249" cy="16905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8188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8B098-1FDB-85A1-A229-1509E5A5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2BFF5-A90E-828B-F083-5B73160FB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AFF2E-3469-82AC-BD65-432D2A47F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1598F-E36D-2AFA-F7B0-EFCB4A88D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A7395-CD56-00F2-67A4-06A388651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96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114"/>
            <a:ext cx="11249000" cy="14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nton"/>
              <a:buNone/>
              <a:defRPr sz="100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15583" y="262138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5500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48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1371600" marR="0" lvl="2" indent="-4381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33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21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8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marR="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7048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9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3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aedaddala/imdb-movies-from-1960-to-2023/dat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rtgo.org/RRADworkshop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dartgo.org/rf" TargetMode="External"/><Relationship Id="rId7" Type="http://schemas.openxmlformats.org/officeDocument/2006/relationships/hyperlink" Target="https://rc.dartmouth.edu/data-science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www.library.dartmouth.edu/directory/subject-librarians" TargetMode="External"/><Relationship Id="rId5" Type="http://schemas.openxmlformats.org/officeDocument/2006/relationships/hyperlink" Target="http://www.dartgo.org/rds-appointment" TargetMode="External"/><Relationship Id="rId4" Type="http://schemas.openxmlformats.org/officeDocument/2006/relationships/hyperlink" Target="mailto:Research.Facilitation@dartmouth.edu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4.png"/><Relationship Id="rId4" Type="http://schemas.openxmlformats.org/officeDocument/2006/relationships/hyperlink" Target="http://dartgo.org/feedback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1321193" y="1807482"/>
            <a:ext cx="9677800" cy="17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4800" dirty="0"/>
              <a:t>Data Wrangling &amp; Visualization in R: From Messy Data to Meaningful Figures</a:t>
            </a:r>
          </a:p>
        </p:txBody>
      </p:sp>
      <p:sp>
        <p:nvSpPr>
          <p:cNvPr id="111" name="Google Shape;111;p22"/>
          <p:cNvSpPr txBox="1"/>
          <p:nvPr/>
        </p:nvSpPr>
        <p:spPr>
          <a:xfrm>
            <a:off x="1556203" y="4800532"/>
            <a:ext cx="8444153" cy="32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>
              <a:lnSpc>
                <a:spcPct val="140025"/>
              </a:lnSpc>
            </a:pPr>
            <a:r>
              <a:rPr lang="en-US" sz="2400" b="1" dirty="0">
                <a:solidFill>
                  <a:schemeClr val="accent3"/>
                </a:solidFill>
                <a:latin typeface="Alegreya"/>
                <a:ea typeface="Alegreya"/>
                <a:cs typeface="Alegreya"/>
                <a:sym typeface="Alegreya"/>
              </a:rPr>
              <a:t>Emily Meyers, Jeremy Mikecz, and Katie Owers Bonner </a:t>
            </a:r>
          </a:p>
          <a:p>
            <a:pPr algn="r">
              <a:lnSpc>
                <a:spcPct val="140025"/>
              </a:lnSpc>
            </a:pPr>
            <a:r>
              <a:rPr lang="en-US" sz="2400" b="1" dirty="0">
                <a:solidFill>
                  <a:schemeClr val="accent3"/>
                </a:solidFill>
                <a:latin typeface="Alegreya"/>
                <a:ea typeface="Alegreya"/>
                <a:cs typeface="Alegreya"/>
                <a:sym typeface="Alegreya"/>
              </a:rPr>
              <a:t>Research Facilitation</a:t>
            </a:r>
          </a:p>
          <a:p>
            <a:pPr algn="r">
              <a:lnSpc>
                <a:spcPct val="140025"/>
              </a:lnSpc>
            </a:pPr>
            <a:r>
              <a:rPr lang="en-US" sz="2400" b="1" dirty="0">
                <a:solidFill>
                  <a:schemeClr val="accent3"/>
                </a:solidFill>
                <a:latin typeface="Alegreya"/>
                <a:ea typeface="Alegreya"/>
                <a:cs typeface="Alegreya"/>
                <a:sym typeface="Alegreya"/>
              </a:rPr>
              <a:t>March 23 &amp; 25, 2026</a:t>
            </a:r>
          </a:p>
        </p:txBody>
      </p:sp>
      <p:sp>
        <p:nvSpPr>
          <p:cNvPr id="112" name="Google Shape;112;p22"/>
          <p:cNvSpPr/>
          <p:nvPr/>
        </p:nvSpPr>
        <p:spPr>
          <a:xfrm>
            <a:off x="706908" y="3961749"/>
            <a:ext cx="10019901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F49B5EB-41A3-EB3B-9CEE-A97C8229E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F570BA1C-399F-EAD6-F0E9-8014736EF252}"/>
              </a:ext>
            </a:extLst>
          </p:cNvPr>
          <p:cNvSpPr txBox="1"/>
          <p:nvPr/>
        </p:nvSpPr>
        <p:spPr>
          <a:xfrm>
            <a:off x="922202" y="1157695"/>
            <a:ext cx="6097800" cy="1484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Welcome, Introductions, Set Expectations – Jeremy?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CEF0492E-90EB-7879-1C58-587861C38DEC}"/>
              </a:ext>
            </a:extLst>
          </p:cNvPr>
          <p:cNvSpPr txBox="1"/>
          <p:nvPr/>
        </p:nvSpPr>
        <p:spPr>
          <a:xfrm>
            <a:off x="858108" y="2719670"/>
            <a:ext cx="9776400" cy="328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Point 1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Point 2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Subpoint 1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Subpoint 2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9163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55B9BD9-DF9E-AC20-26F6-95664F4E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E1BF5683-D6F4-7C8F-FD88-A6220438308F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This workshop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1F33F10C-E37B-AAC3-E67B-2ECA203B4738}"/>
              </a:ext>
            </a:extLst>
          </p:cNvPr>
          <p:cNvSpPr txBox="1"/>
          <p:nvPr/>
        </p:nvSpPr>
        <p:spPr>
          <a:xfrm>
            <a:off x="867673" y="1900078"/>
            <a:ext cx="9776400" cy="5171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4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Topic: Data Wrangling &amp; Visualization in R: From Messy Data to Meaningful Figures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400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4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By the end of this workshop, participants will be able to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highlight>
                  <a:srgbClr val="FFFF00"/>
                </a:highlight>
              </a:rPr>
              <a:t>start a new project in R studio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highlight>
                  <a:srgbClr val="FFFF00"/>
                </a:highlight>
              </a:rPr>
              <a:t>import a csv, read, sort, and filter a dataset with R + </a:t>
            </a:r>
            <a:r>
              <a:rPr lang="en-US" sz="2000" dirty="0" err="1">
                <a:highlight>
                  <a:srgbClr val="FFFF00"/>
                </a:highlight>
              </a:rPr>
              <a:t>tidyverse</a:t>
            </a:r>
            <a:endParaRPr lang="en-US" sz="2000" dirty="0">
              <a:highlight>
                <a:srgbClr val="FFFF00"/>
              </a:highlight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highlight>
                  <a:srgbClr val="FFFF00"/>
                </a:highlight>
              </a:rPr>
              <a:t>explore a new dataset using various data summary and basic visualization techniques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highlight>
                  <a:srgbClr val="FFFF00"/>
                </a:highlight>
              </a:rPr>
              <a:t>aggregate a dataset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highlight>
                  <a:srgbClr val="FFFF00"/>
                </a:highlight>
              </a:rPr>
              <a:t>create a variety of more sophisticated visualizations using </a:t>
            </a:r>
            <a:r>
              <a:rPr lang="en-US" sz="2000" dirty="0" err="1">
                <a:highlight>
                  <a:srgbClr val="FFFF00"/>
                </a:highlight>
              </a:rPr>
              <a:t>ggplot</a:t>
            </a:r>
            <a:r>
              <a:rPr lang="en-US" sz="2000" dirty="0">
                <a:highlight>
                  <a:srgbClr val="FFFF00"/>
                </a:highlight>
              </a:rPr>
              <a:t> and </a:t>
            </a:r>
            <a:r>
              <a:rPr lang="en-US" sz="2000" dirty="0" err="1">
                <a:highlight>
                  <a:srgbClr val="FFFF00"/>
                </a:highlight>
              </a:rPr>
              <a:t>plotly</a:t>
            </a:r>
            <a:endParaRPr lang="en-US" sz="2000" dirty="0">
              <a:highlight>
                <a:srgbClr val="FFFF00"/>
              </a:highlight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highlight>
                  <a:srgbClr val="FFFF00"/>
                </a:highlight>
              </a:rPr>
              <a:t>export results (modified / aggregated dataset, plot)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400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defTabSz="609630">
              <a:lnSpc>
                <a:spcPct val="140013"/>
              </a:lnSpc>
              <a:buClr>
                <a:srgbClr val="000000"/>
              </a:buClr>
            </a:pP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6705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C2A27A8C-3BBE-0AE5-00C9-2F981F6F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28F7679F-BF0C-A310-0795-BC91E28F244D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Schedule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06A0A712-F181-1D85-F787-3A5773813EFF}"/>
              </a:ext>
            </a:extLst>
          </p:cNvPr>
          <p:cNvSpPr txBox="1"/>
          <p:nvPr/>
        </p:nvSpPr>
        <p:spPr>
          <a:xfrm>
            <a:off x="922202" y="1736904"/>
            <a:ext cx="9776400" cy="5175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highlight>
                  <a:srgbClr val="FFFF00"/>
                </a:highlight>
                <a:latin typeface="Archivo Medium"/>
                <a:ea typeface="Archivo Medium"/>
                <a:cs typeface="Archivo Medium"/>
                <a:sym typeface="Archivo Medium"/>
              </a:rPr>
              <a:t>Day 1 – Monday March 23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highlight>
                  <a:srgbClr val="FFFF00"/>
                </a:highlight>
                <a:sym typeface="Archivo Medium"/>
              </a:rPr>
              <a:t>9:00 – 9:30 Introductions, orientation, &amp; setup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highlight>
                  <a:srgbClr val="FFFF00"/>
                </a:highlight>
                <a:sym typeface="Archivo Medium"/>
              </a:rPr>
              <a:t>9:30 – 10:30 Exploring your data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highlight>
                  <a:srgbClr val="FFFF00"/>
                </a:highlight>
                <a:sym typeface="Archivo Medium"/>
              </a:rPr>
              <a:t>10:30 – 10:45 Break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highlight>
                  <a:srgbClr val="FFFF00"/>
                </a:highlight>
                <a:sym typeface="Archivo Medium"/>
              </a:rPr>
              <a:t>10:45 – 12:00  Wrangling your data 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highlight>
                  <a:srgbClr val="FFFF00"/>
                </a:highlight>
                <a:sym typeface="Archivo Medium"/>
              </a:rPr>
              <a:t>12:00 – 12:30 (Optional) Additional exploration, Q&amp;A,…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highlight>
                <a:srgbClr val="FFFF00"/>
              </a:highlight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highlight>
                  <a:srgbClr val="FFFF00"/>
                </a:highlight>
                <a:latin typeface="Archivo Medium"/>
                <a:ea typeface="Archivo Medium"/>
                <a:cs typeface="Archivo Medium"/>
                <a:sym typeface="Archivo Medium"/>
              </a:rPr>
              <a:t>Day 2 – Wednesday March 25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highlight>
                  <a:srgbClr val="FFFF00"/>
                </a:highlight>
                <a:sym typeface="Archivo Medium"/>
              </a:rPr>
              <a:t>9:00 – 9:15 Introduction to Day 2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highlight>
                  <a:srgbClr val="FFFF00"/>
                </a:highlight>
                <a:sym typeface="Archivo Medium"/>
              </a:rPr>
              <a:t>9:15 – 10:30 Building a plot in </a:t>
            </a:r>
            <a:r>
              <a:rPr lang="en-US" sz="1600" dirty="0" err="1">
                <a:highlight>
                  <a:srgbClr val="FFFF00"/>
                </a:highlight>
                <a:sym typeface="Archivo Medium"/>
              </a:rPr>
              <a:t>ggplot</a:t>
            </a:r>
            <a:endParaRPr lang="en-US" sz="1600" dirty="0">
              <a:highlight>
                <a:srgbClr val="FFFF00"/>
              </a:highlight>
              <a:sym typeface="Archivo Medium"/>
            </a:endParaRP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highlight>
                  <a:srgbClr val="FFFF00"/>
                </a:highlight>
                <a:sym typeface="Archivo Medium"/>
              </a:rPr>
              <a:t>10:30 – 10:45 Break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highlight>
                  <a:srgbClr val="FFFF00"/>
                </a:highlight>
                <a:sym typeface="Archivo Medium"/>
              </a:rPr>
              <a:t>10:45 – 12:00 Additional visualization options and saving visualizations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highlight>
                  <a:srgbClr val="FFFF00"/>
                </a:highlight>
                <a:sym typeface="Archivo Medium"/>
              </a:rPr>
              <a:t>12:00 – 12:30 (Optional) Additional exploration, Q&amp;A,…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0845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0D7AC0D-CEC3-BEEE-CE0A-3674961D0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993F69D1-CC3C-F9B0-18CC-97B4ED7CF835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Hi, I’m Katie! – </a:t>
            </a:r>
            <a:r>
              <a:rPr lang="en-US" sz="3446" kern="0" dirty="0">
                <a:solidFill>
                  <a:srgbClr val="00693D"/>
                </a:solidFill>
                <a:highlight>
                  <a:srgbClr val="FFFF00"/>
                </a:highlight>
                <a:latin typeface="Anton"/>
                <a:ea typeface="Anton"/>
                <a:cs typeface="Anton"/>
                <a:sym typeface="Anton"/>
              </a:rPr>
              <a:t>slide for each of us?</a:t>
            </a:r>
            <a:endParaRPr sz="933" kern="0" dirty="0">
              <a:solidFill>
                <a:srgbClr val="000000"/>
              </a:solidFill>
              <a:highlight>
                <a:srgbClr val="FFFF00"/>
              </a:highlight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8124E773-F46E-D901-820C-8D30C7CFDBE4}"/>
              </a:ext>
            </a:extLst>
          </p:cNvPr>
          <p:cNvSpPr txBox="1"/>
          <p:nvPr/>
        </p:nvSpPr>
        <p:spPr>
          <a:xfrm>
            <a:off x="922202" y="1736904"/>
            <a:ext cx="6434943" cy="414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Role: Senior Research Data Science Specialist with the Research Facilitation team in the Libraries</a:t>
            </a:r>
            <a:endParaRPr sz="933" kern="0" dirty="0">
              <a:solidFill>
                <a:srgbClr val="000000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Background: Public health, biology, &amp; ecology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PhD in Epidemiology (Yale)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Work in multiple academic and government institutions</a:t>
            </a: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Expertise: Research planning, data management and analysis, related software (R, Python)</a:t>
            </a: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person smiling at camera&#10;&#10;AI-generated content may be incorrect.">
            <a:extLst>
              <a:ext uri="{FF2B5EF4-FFF2-40B4-BE49-F238E27FC236}">
                <a16:creationId xmlns:a16="http://schemas.microsoft.com/office/drawing/2014/main" id="{C509E422-A02F-75EA-F1E1-37D2711F0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3" r="-1" b="-1609"/>
          <a:stretch>
            <a:fillRect/>
          </a:stretch>
        </p:blipFill>
        <p:spPr>
          <a:xfrm rot="5400000">
            <a:off x="7403432" y="1712258"/>
            <a:ext cx="4555675" cy="343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59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EE2470EB-9FFC-DA2C-D10A-BCE83C84A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8DC7234E-D843-D860-8806-2D09C2AD98A2}"/>
              </a:ext>
            </a:extLst>
          </p:cNvPr>
          <p:cNvSpPr txBox="1"/>
          <p:nvPr/>
        </p:nvSpPr>
        <p:spPr>
          <a:xfrm>
            <a:off x="922201" y="1157695"/>
            <a:ext cx="8332893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Our dataset: Top Movies from 1920 to 2025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400B43C7-AE23-4859-5417-F9F09FF63AAD}"/>
              </a:ext>
            </a:extLst>
          </p:cNvPr>
          <p:cNvSpPr txBox="1"/>
          <p:nvPr/>
        </p:nvSpPr>
        <p:spPr>
          <a:xfrm>
            <a:off x="922202" y="1736904"/>
            <a:ext cx="9776400" cy="4316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  <a:hlinkClick r:id="rId3"/>
              </a:rPr>
              <a:t>https://www.kaggle.com/datasets/raedaddala/imdb-movies-from-1960-to-2023/data</a:t>
            </a: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The most popular 500(</a:t>
            </a:r>
            <a:r>
              <a:rPr lang="en-US" sz="2006" kern="0" dirty="0" err="1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ish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) movies each year from IMDB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Basic movie information: Title, description, duration, rating (PG, R, etc.), genres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People: Writer(s), director(s), star(s)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Public and critical opinion scores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Financial data: Budget, revenue (opening weekend, total)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And more!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2579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B4E9249E-F660-4357-ACA8-90D4F6D92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76722DDA-3847-732D-2AA6-447B0EC3F376}"/>
              </a:ext>
            </a:extLst>
          </p:cNvPr>
          <p:cNvSpPr txBox="1"/>
          <p:nvPr/>
        </p:nvSpPr>
        <p:spPr>
          <a:xfrm>
            <a:off x="922201" y="1157695"/>
            <a:ext cx="8332893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Dataset preparation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1CB4D723-472C-B019-5356-2F29290E15E3}"/>
              </a:ext>
            </a:extLst>
          </p:cNvPr>
          <p:cNvSpPr txBox="1"/>
          <p:nvPr/>
        </p:nvSpPr>
        <p:spPr>
          <a:xfrm>
            <a:off x="922202" y="1736904"/>
            <a:ext cx="9776400" cy="405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This workshop uses the “merged” files that contain all the data for each movie. </a:t>
            </a:r>
            <a:endParaRPr lang="en-US" sz="1600" dirty="0">
              <a:sym typeface="Archivo Medium"/>
            </a:endParaRP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Note that we pre-cleaned the data to make it easier to work with during our sessions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Combined files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Cleaned some issues (but left others for you, don’t worry!)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endParaRPr lang="en-US" sz="1600" dirty="0"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You can use the code in </a:t>
            </a:r>
            <a:r>
              <a:rPr lang="en-US" sz="2006" kern="0" dirty="0">
                <a:solidFill>
                  <a:srgbClr val="12312B"/>
                </a:solidFill>
                <a:highlight>
                  <a:srgbClr val="FFFF00"/>
                </a:highlight>
                <a:latin typeface="Archivo Medium"/>
                <a:ea typeface="Archivo Medium"/>
                <a:cs typeface="Archivo Medium"/>
                <a:sym typeface="Archivo Medium"/>
              </a:rPr>
              <a:t>THIS Location 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if you want to re-create our starting dataset from the downloaded files. 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4584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B29C921-FAE7-FD5D-F7C0-4FB037044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B675CB76-CAEA-E823-5C9B-13AC524E5FE0}"/>
              </a:ext>
            </a:extLst>
          </p:cNvPr>
          <p:cNvSpPr txBox="1"/>
          <p:nvPr/>
        </p:nvSpPr>
        <p:spPr>
          <a:xfrm>
            <a:off x="922201" y="1157695"/>
            <a:ext cx="8332893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Two questions we will explore with this data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05116371-47C9-8782-06AA-348A80CC5398}"/>
              </a:ext>
            </a:extLst>
          </p:cNvPr>
          <p:cNvSpPr txBox="1"/>
          <p:nvPr/>
        </p:nvSpPr>
        <p:spPr>
          <a:xfrm>
            <a:off x="922202" y="1736904"/>
            <a:ext cx="9776400" cy="3325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(How) do critical and popular opinions about movies diverge?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dirty="0"/>
              <a:t>What genre of movies has the most bang for its buck (lowest budget, highest revenue?)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endParaRPr lang="en-US" sz="1600" dirty="0"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8270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085F6405-7F4A-13C9-ADC6-785C80561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>
            <a:extLst>
              <a:ext uri="{FF2B5EF4-FFF2-40B4-BE49-F238E27FC236}">
                <a16:creationId xmlns:a16="http://schemas.microsoft.com/office/drawing/2014/main" id="{F0B4E771-CF6F-C6B2-8CF5-60A162B78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29800" y="1709750"/>
            <a:ext cx="90174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b="0" dirty="0"/>
              <a:t>Let’s get started!</a:t>
            </a:r>
            <a:endParaRPr b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66E518-A04F-6DE0-C306-91FE81E92306}"/>
              </a:ext>
            </a:extLst>
          </p:cNvPr>
          <p:cNvSpPr txBox="1"/>
          <p:nvPr/>
        </p:nvSpPr>
        <p:spPr>
          <a:xfrm>
            <a:off x="3315767" y="5078064"/>
            <a:ext cx="4242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Download the data from: </a:t>
            </a:r>
            <a:r>
              <a:rPr lang="en-US" dirty="0" err="1">
                <a:highlight>
                  <a:srgbClr val="FFFF00"/>
                </a:highlight>
              </a:rPr>
              <a:t>dartgo</a:t>
            </a:r>
            <a:r>
              <a:rPr lang="en-US" dirty="0">
                <a:highlight>
                  <a:srgbClr val="FFFF00"/>
                </a:highlight>
              </a:rPr>
              <a:t> link</a:t>
            </a:r>
          </a:p>
        </p:txBody>
      </p:sp>
    </p:spTree>
    <p:extLst>
      <p:ext uri="{BB962C8B-B14F-4D97-AF65-F5344CB8AC3E}">
        <p14:creationId xmlns:p14="http://schemas.microsoft.com/office/powerpoint/2010/main" val="3846199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2B114DF9-97CA-2B66-BD58-02EF311F8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64477353-763A-15A6-FAA3-7320FC3B4337}"/>
              </a:ext>
            </a:extLst>
          </p:cNvPr>
          <p:cNvSpPr txBox="1"/>
          <p:nvPr/>
        </p:nvSpPr>
        <p:spPr>
          <a:xfrm>
            <a:off x="1417320" y="2148841"/>
            <a:ext cx="9930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Day 2 </a:t>
            </a:r>
            <a:endParaRPr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1CBE9B77-AEC0-E2BF-6DD1-05D68D82A90C}"/>
              </a:ext>
            </a:extLst>
          </p:cNvPr>
          <p:cNvSpPr/>
          <p:nvPr/>
        </p:nvSpPr>
        <p:spPr>
          <a:xfrm>
            <a:off x="1065004" y="2844069"/>
            <a:ext cx="3947264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5263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492ED415-B6B2-270C-003F-176DCDAA9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5EDFCD96-892A-B449-4839-26398579B5A5}"/>
              </a:ext>
            </a:extLst>
          </p:cNvPr>
          <p:cNvSpPr txBox="1"/>
          <p:nvPr/>
        </p:nvSpPr>
        <p:spPr>
          <a:xfrm>
            <a:off x="922201" y="1157695"/>
            <a:ext cx="8284715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Reproducible Research workshop series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9B72596A-D557-1CA0-4098-0B9E3210C40F}"/>
              </a:ext>
            </a:extLst>
          </p:cNvPr>
          <p:cNvSpPr txBox="1"/>
          <p:nvPr/>
        </p:nvSpPr>
        <p:spPr>
          <a:xfrm>
            <a:off x="922201" y="1983519"/>
            <a:ext cx="9776400" cy="383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T</a:t>
            </a:r>
            <a:r>
              <a:rPr lang="en-US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he </a:t>
            </a:r>
            <a:r>
              <a:rPr lang="en-US" b="1" dirty="0">
                <a:solidFill>
                  <a:srgbClr val="12312B"/>
                </a:solidFill>
                <a:latin typeface="Archivo Medium"/>
                <a:ea typeface="Archivo"/>
                <a:cs typeface="Archivo"/>
                <a:sym typeface="Archivo"/>
              </a:rPr>
              <a:t>Reproducible Research Group</a:t>
            </a:r>
            <a:r>
              <a:rPr lang="en-US" dirty="0">
                <a:solidFill>
                  <a:srgbClr val="12312B"/>
                </a:solidFill>
                <a:latin typeface="Archivo Medium"/>
                <a:ea typeface="Archivo"/>
                <a:cs typeface="Archivo"/>
                <a:sym typeface="Archivo"/>
              </a:rPr>
              <a:t>—a</a:t>
            </a:r>
            <a:r>
              <a:rPr lang="en-US" dirty="0">
                <a:latin typeface="Archivo Medium"/>
              </a:rPr>
              <a:t> collaboration between Dartmouth Libraries and Research Computing / ITC—of</a:t>
            </a:r>
            <a:r>
              <a:rPr lang="en-US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fers workshops on computational and reproducible research, data science, and related fields every term. </a:t>
            </a:r>
            <a:endParaRPr lang="en-US" dirty="0">
              <a:latin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dirty="0"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dirty="0">
                <a:latin typeface="Archivo Medium"/>
              </a:rPr>
              <a:t>The full list of upcoming workshops is available at </a:t>
            </a:r>
            <a:r>
              <a:rPr lang="en-US" dirty="0">
                <a:latin typeface="Archivo Medium"/>
                <a:hlinkClick r:id="rId3"/>
              </a:rPr>
              <a:t>dartgo.org/</a:t>
            </a:r>
            <a:r>
              <a:rPr lang="en-US" dirty="0" err="1">
                <a:latin typeface="Archivo Medium"/>
                <a:hlinkClick r:id="rId3"/>
              </a:rPr>
              <a:t>RRADworkshops</a:t>
            </a:r>
            <a:r>
              <a:rPr lang="en-US" dirty="0">
                <a:latin typeface="Archivo Medium"/>
                <a:hlinkClick r:id="rId3"/>
              </a:rPr>
              <a:t>  </a:t>
            </a:r>
            <a:endParaRPr lang="en-US" dirty="0">
              <a:latin typeface="Archivo Medium"/>
            </a:endParaRP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Most are online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highlight>
                  <a:srgbClr val="FFFF00"/>
                </a:highlight>
                <a:sym typeface="Archivo Medium"/>
              </a:rPr>
              <a:t>Upcoming workshops related to today’s are listed at the end of this presentation</a:t>
            </a:r>
            <a:r>
              <a:rPr lang="en-US" sz="1600" dirty="0">
                <a:sym typeface="Archivo Medium"/>
              </a:rPr>
              <a:t>.</a:t>
            </a:r>
            <a:endParaRPr sz="1600" dirty="0">
              <a:sym typeface="Archivo Medium"/>
            </a:endParaRP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endParaRPr lang="en-US" sz="1600" dirty="0">
              <a:latin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  <a:defRPr/>
            </a:pPr>
            <a:r>
              <a:rPr lang="en-US" dirty="0">
                <a:latin typeface="Archivo Medium"/>
              </a:rPr>
              <a:t>If you need help with something that isn’t the subject of a workshop or need it before we’re offering the relevant workshop, please reach out!</a:t>
            </a:r>
            <a:endParaRPr sz="2006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3113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86F5C480-BAF7-16CD-C574-7DCE1DB0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84A53EE2-EF91-F5FF-EEE4-EE35468FE688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Next steps &amp; related workshops</a:t>
            </a:r>
          </a:p>
        </p:txBody>
      </p:sp>
      <p:sp>
        <p:nvSpPr>
          <p:cNvPr id="2" name="Google Shape;142;p26">
            <a:extLst>
              <a:ext uri="{FF2B5EF4-FFF2-40B4-BE49-F238E27FC236}">
                <a16:creationId xmlns:a16="http://schemas.microsoft.com/office/drawing/2014/main" id="{CC6A05F9-F59E-2968-AD92-254822AD980F}"/>
              </a:ext>
            </a:extLst>
          </p:cNvPr>
          <p:cNvSpPr txBox="1"/>
          <p:nvPr/>
        </p:nvSpPr>
        <p:spPr>
          <a:xfrm>
            <a:off x="922202" y="1736904"/>
            <a:ext cx="9776400" cy="328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Point 1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Point 2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Subpoint 1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Subpoint 2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53640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20AB305-2119-802B-A34D-E2ECAB81D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B6992480-2948-8A4E-289D-78258F667DD3}"/>
              </a:ext>
            </a:extLst>
          </p:cNvPr>
          <p:cNvSpPr txBox="1"/>
          <p:nvPr/>
        </p:nvSpPr>
        <p:spPr>
          <a:xfrm>
            <a:off x="385306" y="2143452"/>
            <a:ext cx="3456851" cy="222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You have many options for analytical support!</a:t>
            </a: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8229FF6B-D149-2742-DA82-46DC413AE17A}"/>
              </a:ext>
            </a:extLst>
          </p:cNvPr>
          <p:cNvSpPr txBox="1"/>
          <p:nvPr/>
        </p:nvSpPr>
        <p:spPr>
          <a:xfrm>
            <a:off x="4537856" y="860091"/>
            <a:ext cx="7202575" cy="3841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nl-NL" dirty="0">
              <a:sym typeface="Alegreya SemiBold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400" dirty="0">
              <a:sym typeface="Alegreya SemiBold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dirty="0">
                <a:sym typeface="Alegreya SemiBold"/>
                <a:hlinkClick r:id="rId3"/>
              </a:rPr>
              <a:t>Research Facilitation Department (Dartmouth Libraries)</a:t>
            </a:r>
            <a:endParaRPr lang="en-US" dirty="0">
              <a:sym typeface="Arial"/>
            </a:endParaRPr>
          </a:p>
          <a:p>
            <a:pPr marL="866521" marR="0" lvl="2" indent="-288840" defTabSz="609630" fontAlgn="auto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2312B"/>
              </a:buClr>
              <a:buSzPts val="3009"/>
              <a:buFont typeface="Archivo Medium"/>
              <a:buChar char="⚬"/>
              <a:tabLst/>
              <a:defRPr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Ask a question: 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  <a:hlinkClick r:id="rId4"/>
              </a:rPr>
              <a:t>Research.Facilitation@dartmouth.edu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 </a:t>
            </a:r>
          </a:p>
          <a:p>
            <a:pPr marL="866521" marR="0" lvl="2" indent="-288840" defTabSz="609630" fontAlgn="auto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2312B"/>
              </a:buClr>
              <a:buSzPts val="3009"/>
              <a:buFont typeface="Archivo Medium"/>
              <a:buChar char="⚬"/>
              <a:tabLst/>
              <a:defRPr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Schedule a consultation: 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  <a:hlinkClick r:id="rId5"/>
              </a:rPr>
              <a:t>dartgo.org/</a:t>
            </a:r>
            <a:r>
              <a:rPr lang="en-US" sz="2006" kern="0" dirty="0" err="1">
                <a:solidFill>
                  <a:srgbClr val="12312B"/>
                </a:solidFill>
                <a:latin typeface="Archivo Medium"/>
                <a:cs typeface="Archivo Medium"/>
                <a:sym typeface="Archivo Medium"/>
                <a:hlinkClick r:id="rId5"/>
              </a:rPr>
              <a:t>rds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  <a:hlinkClick r:id="rId5"/>
              </a:rPr>
              <a:t>-appointment</a:t>
            </a:r>
          </a:p>
          <a:p>
            <a:pPr marL="866521" marR="0" lvl="2" indent="-288840" defTabSz="609630" fontAlgn="auto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2312B"/>
              </a:buClr>
              <a:buSzPts val="3009"/>
              <a:buFont typeface="Archivo Medium"/>
              <a:buChar char="⚬"/>
              <a:tabLst/>
              <a:defRPr/>
            </a:pPr>
            <a:endParaRPr lang="en-US" sz="2006" kern="0" dirty="0">
              <a:solidFill>
                <a:srgbClr val="12312B"/>
              </a:solidFill>
              <a:latin typeface="Archivo Medium"/>
              <a:cs typeface="Archivo Medium"/>
              <a:sym typeface="Archivo Medium"/>
              <a:hlinkClick r:id="rId5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  <a:defRPr/>
            </a:pPr>
            <a:r>
              <a:rPr lang="en-US" dirty="0">
                <a:sym typeface="Archivo Medium"/>
              </a:rPr>
              <a:t>Reproducible Research partners 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  <a:defRPr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  <a:hlinkClick r:id="rId6"/>
              </a:rPr>
              <a:t>Subject Librarians</a:t>
            </a:r>
            <a:endParaRPr lang="en-US" sz="2006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  <a:defRPr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  <a:hlinkClick r:id="rId7"/>
              </a:rPr>
              <a:t>Data Science Support in Research Computing/ITC</a:t>
            </a:r>
            <a:endParaRPr lang="en-US" sz="2006" kern="0" dirty="0">
              <a:solidFill>
                <a:srgbClr val="12312B"/>
              </a:solidFill>
              <a:latin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561263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/>
        </p:nvSpPr>
        <p:spPr>
          <a:xfrm>
            <a:off x="516500" y="2007817"/>
            <a:ext cx="5063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1"/>
              </a:lnSpc>
            </a:pPr>
            <a:r>
              <a:rPr lang="en-US" sz="4000" dirty="0">
                <a:solidFill>
                  <a:srgbClr val="12312B"/>
                </a:solidFill>
                <a:latin typeface="Anton"/>
                <a:ea typeface="Anton"/>
                <a:cs typeface="Anton"/>
                <a:sym typeface="Anton"/>
              </a:rPr>
              <a:t>Please leave feedback!</a:t>
            </a:r>
            <a:endParaRPr sz="40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677400" y="3849663"/>
            <a:ext cx="5063000" cy="5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21"/>
              </a:lnSpc>
            </a:pPr>
            <a:endParaRPr sz="1200" b="1"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4" name="Google Shape;154;p28"/>
          <p:cNvSpPr/>
          <p:nvPr/>
        </p:nvSpPr>
        <p:spPr>
          <a:xfrm>
            <a:off x="252323" y="4394263"/>
            <a:ext cx="5396732" cy="431640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155" name="Google Shape;155;p28"/>
          <p:cNvSpPr txBox="1"/>
          <p:nvPr/>
        </p:nvSpPr>
        <p:spPr>
          <a:xfrm>
            <a:off x="707300" y="3632273"/>
            <a:ext cx="5543200" cy="13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21"/>
              </a:lnSpc>
            </a:pPr>
            <a:r>
              <a:rPr lang="en-US" sz="2194" b="1" dirty="0">
                <a:solidFill>
                  <a:srgbClr val="12312B"/>
                </a:solidFill>
                <a:latin typeface="Archivo"/>
                <a:ea typeface="Archivo"/>
                <a:cs typeface="Archivo"/>
                <a:sym typeface="Archivo"/>
              </a:rPr>
              <a:t>Use </a:t>
            </a:r>
            <a:r>
              <a:rPr lang="en-US" sz="2194" b="1" u="sng" dirty="0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4"/>
              </a:rPr>
              <a:t>dartgo.org/feedback</a:t>
            </a:r>
            <a:r>
              <a:rPr lang="en-US" sz="2194" b="1" dirty="0">
                <a:solidFill>
                  <a:srgbClr val="12312B"/>
                </a:solidFill>
                <a:latin typeface="Archivo"/>
                <a:ea typeface="Archivo"/>
                <a:cs typeface="Archivo"/>
                <a:sym typeface="Archivo"/>
              </a:rPr>
              <a:t> or QR code → </a:t>
            </a:r>
            <a:endParaRPr sz="1267" b="1" dirty="0">
              <a:latin typeface="Archivo"/>
              <a:ea typeface="Archivo"/>
              <a:cs typeface="Archivo"/>
              <a:sym typeface="Archivo"/>
            </a:endParaRPr>
          </a:p>
          <a:p>
            <a:pPr>
              <a:lnSpc>
                <a:spcPct val="140021"/>
              </a:lnSpc>
            </a:pPr>
            <a:endParaRPr sz="1200" b="1"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1"/>
          </p:nvPr>
        </p:nvSpPr>
        <p:spPr>
          <a:xfrm>
            <a:off x="1328117" y="5272937"/>
            <a:ext cx="3039167" cy="762400"/>
          </a:xfrm>
          <a:prstGeom prst="rect">
            <a:avLst/>
          </a:prstGeom>
        </p:spPr>
        <p:txBody>
          <a:bodyPr spcFirstLastPara="1" wrap="square" lIns="60950" tIns="30467" rIns="60950" bIns="30467" anchor="t" anchorCtr="0">
            <a:normAutofit/>
          </a:bodyPr>
          <a:lstStyle/>
          <a:p>
            <a:pPr marL="0" indent="0">
              <a:buNone/>
            </a:pPr>
            <a:r>
              <a:rPr lang="en-US" i="1" dirty="0"/>
              <a:t>Thank you!</a:t>
            </a:r>
            <a:endParaRPr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1D565E-E84A-327E-9DB9-8ED8ACE4E4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142" y="1081043"/>
            <a:ext cx="4374726" cy="4379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CC5B0E40-F06E-ED9C-1295-626B97CA2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EA6DC3D4-80B7-B442-9E47-B7AF297B980B}"/>
              </a:ext>
            </a:extLst>
          </p:cNvPr>
          <p:cNvSpPr txBox="1"/>
          <p:nvPr/>
        </p:nvSpPr>
        <p:spPr>
          <a:xfrm>
            <a:off x="922202" y="1157695"/>
            <a:ext cx="979635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The Research Process from a Data Perspective*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A2FEDCC-7067-8878-945A-FED8612480E9}"/>
              </a:ext>
            </a:extLst>
          </p:cNvPr>
          <p:cNvSpPr/>
          <p:nvPr/>
        </p:nvSpPr>
        <p:spPr>
          <a:xfrm>
            <a:off x="1847097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Get Raw Data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433F1A3-1B0F-EC1F-D46F-680664600BA4}"/>
              </a:ext>
            </a:extLst>
          </p:cNvPr>
          <p:cNvSpPr/>
          <p:nvPr/>
        </p:nvSpPr>
        <p:spPr>
          <a:xfrm>
            <a:off x="3405765" y="3019801"/>
            <a:ext cx="1800986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 dirty="0">
                <a:latin typeface="Archivo Medium"/>
              </a:rPr>
              <a:t>Exploratory Data Analysis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475C74A-3A6C-173F-F399-71D3F4CC8B5C}"/>
              </a:ext>
            </a:extLst>
          </p:cNvPr>
          <p:cNvSpPr/>
          <p:nvPr/>
        </p:nvSpPr>
        <p:spPr>
          <a:xfrm>
            <a:off x="4964433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Analysis Planning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826DB96-4D79-0DDA-DEBC-DD9E1F3F728F}"/>
              </a:ext>
            </a:extLst>
          </p:cNvPr>
          <p:cNvSpPr/>
          <p:nvPr/>
        </p:nvSpPr>
        <p:spPr>
          <a:xfrm>
            <a:off x="6523101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Data Cleaning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F9F56EA-3622-960C-9BAD-22FD906BBC7A}"/>
              </a:ext>
            </a:extLst>
          </p:cNvPr>
          <p:cNvSpPr/>
          <p:nvPr/>
        </p:nvSpPr>
        <p:spPr>
          <a:xfrm>
            <a:off x="8081767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0A1AB-7B55-28F6-C95E-2C84F4F6C051}"/>
              </a:ext>
            </a:extLst>
          </p:cNvPr>
          <p:cNvSpPr txBox="1"/>
          <p:nvPr/>
        </p:nvSpPr>
        <p:spPr>
          <a:xfrm>
            <a:off x="1308577" y="1791114"/>
            <a:ext cx="73841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*Note this flow is specific to the data aspects of a research project and does not include critical steps like literature review and sharing your findings.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2367570-7AE5-856A-47A0-BD17681B8152}"/>
              </a:ext>
            </a:extLst>
          </p:cNvPr>
          <p:cNvCxnSpPr>
            <a:cxnSpLocks/>
          </p:cNvCxnSpPr>
          <p:nvPr/>
        </p:nvCxnSpPr>
        <p:spPr>
          <a:xfrm>
            <a:off x="5754070" y="4104682"/>
            <a:ext cx="0" cy="473978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09FF08E-DE2D-E51F-9952-3A78E647A38F}"/>
              </a:ext>
            </a:extLst>
          </p:cNvPr>
          <p:cNvSpPr txBox="1"/>
          <p:nvPr/>
        </p:nvSpPr>
        <p:spPr>
          <a:xfrm>
            <a:off x="4858546" y="4578660"/>
            <a:ext cx="17910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Determine data format requirements for your analysis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78315B-53F5-B69F-A5A2-E9F659768309}"/>
              </a:ext>
            </a:extLst>
          </p:cNvPr>
          <p:cNvCxnSpPr>
            <a:cxnSpLocks/>
          </p:cNvCxnSpPr>
          <p:nvPr/>
        </p:nvCxnSpPr>
        <p:spPr>
          <a:xfrm flipV="1">
            <a:off x="6577240" y="4058543"/>
            <a:ext cx="758154" cy="626708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BE1E460-CDE5-5FBB-E9E9-74D46BD9E519}"/>
              </a:ext>
            </a:extLst>
          </p:cNvPr>
          <p:cNvSpPr txBox="1"/>
          <p:nvPr/>
        </p:nvSpPr>
        <p:spPr>
          <a:xfrm>
            <a:off x="7247310" y="4448631"/>
            <a:ext cx="1895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Make it happen!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D022D9-46DA-465D-25F1-1951AE9AFFA4}"/>
              </a:ext>
            </a:extLst>
          </p:cNvPr>
          <p:cNvSpPr txBox="1"/>
          <p:nvPr/>
        </p:nvSpPr>
        <p:spPr>
          <a:xfrm>
            <a:off x="3040840" y="4623179"/>
            <a:ext cx="17910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Learn what your data contains and how it’s formatted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B371DE-3019-08FD-EC87-BC90DF38505E}"/>
              </a:ext>
            </a:extLst>
          </p:cNvPr>
          <p:cNvCxnSpPr>
            <a:cxnSpLocks/>
          </p:cNvCxnSpPr>
          <p:nvPr/>
        </p:nvCxnSpPr>
        <p:spPr>
          <a:xfrm>
            <a:off x="3971722" y="4104682"/>
            <a:ext cx="0" cy="473978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0E60B8-14AA-275F-4F41-798ECD89F97A}"/>
              </a:ext>
            </a:extLst>
          </p:cNvPr>
          <p:cNvCxnSpPr>
            <a:cxnSpLocks/>
          </p:cNvCxnSpPr>
          <p:nvPr/>
        </p:nvCxnSpPr>
        <p:spPr>
          <a:xfrm flipV="1">
            <a:off x="4626064" y="4104682"/>
            <a:ext cx="708557" cy="614125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02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6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F8931992-4BE5-C781-0D42-4245B2CAF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D7E57984-1C7C-76DF-F49C-60A5819A95FE}"/>
              </a:ext>
            </a:extLst>
          </p:cNvPr>
          <p:cNvSpPr txBox="1"/>
          <p:nvPr/>
        </p:nvSpPr>
        <p:spPr>
          <a:xfrm>
            <a:off x="922202" y="1157695"/>
            <a:ext cx="979635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The 80/20 rule of working with data</a:t>
            </a:r>
            <a:endParaRPr lang="en-US"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0617051-2E0A-2485-5B8F-AD7DC6EB62D4}"/>
              </a:ext>
            </a:extLst>
          </p:cNvPr>
          <p:cNvSpPr/>
          <p:nvPr/>
        </p:nvSpPr>
        <p:spPr>
          <a:xfrm>
            <a:off x="1847097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Get Raw Data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4894C3E-DBDE-DF9F-DC26-29997F02546E}"/>
              </a:ext>
            </a:extLst>
          </p:cNvPr>
          <p:cNvSpPr/>
          <p:nvPr/>
        </p:nvSpPr>
        <p:spPr>
          <a:xfrm>
            <a:off x="3405765" y="3019801"/>
            <a:ext cx="1800986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 dirty="0">
                <a:latin typeface="Archivo Medium"/>
              </a:rPr>
              <a:t>Exploratory Data Analysis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EA48757-5363-97D8-FF45-8DA2E34B419D}"/>
              </a:ext>
            </a:extLst>
          </p:cNvPr>
          <p:cNvSpPr/>
          <p:nvPr/>
        </p:nvSpPr>
        <p:spPr>
          <a:xfrm>
            <a:off x="4964433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Analysis Planning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5D48966-4276-8083-C00B-4E4A80EC51EA}"/>
              </a:ext>
            </a:extLst>
          </p:cNvPr>
          <p:cNvSpPr/>
          <p:nvPr/>
        </p:nvSpPr>
        <p:spPr>
          <a:xfrm>
            <a:off x="6523101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Data Cleaning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3FF4120-54EB-3D9C-DADD-76A7AF067B16}"/>
              </a:ext>
            </a:extLst>
          </p:cNvPr>
          <p:cNvSpPr/>
          <p:nvPr/>
        </p:nvSpPr>
        <p:spPr>
          <a:xfrm>
            <a:off x="8081767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Data Analysis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5ED7EBC0-62F9-821C-0C80-01E10157F821}"/>
              </a:ext>
            </a:extLst>
          </p:cNvPr>
          <p:cNvSpPr/>
          <p:nvPr/>
        </p:nvSpPr>
        <p:spPr>
          <a:xfrm rot="5400000" flipH="1">
            <a:off x="4567080" y="-420551"/>
            <a:ext cx="524015" cy="6200267"/>
          </a:xfrm>
          <a:prstGeom prst="rightBrac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8EF1BB-20F6-3E2E-B835-D22F27608FEA}"/>
              </a:ext>
            </a:extLst>
          </p:cNvPr>
          <p:cNvSpPr txBox="1"/>
          <p:nvPr/>
        </p:nvSpPr>
        <p:spPr>
          <a:xfrm>
            <a:off x="8614832" y="4486643"/>
            <a:ext cx="1819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Archivo Medium"/>
              </a:rPr>
              <a:t>20%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8DFFDD7B-001A-66B1-BA37-8FB7D85C3354}"/>
              </a:ext>
            </a:extLst>
          </p:cNvPr>
          <p:cNvSpPr/>
          <p:nvPr/>
        </p:nvSpPr>
        <p:spPr>
          <a:xfrm rot="5400000">
            <a:off x="8632411" y="3483423"/>
            <a:ext cx="394277" cy="1503478"/>
          </a:xfrm>
          <a:prstGeom prst="rightBrace">
            <a:avLst>
              <a:gd name="adj1" fmla="val 8333"/>
              <a:gd name="adj2" fmla="val 49454"/>
            </a:avLst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F80CEF-1C3B-BBEC-4C08-AC1B2C955B5E}"/>
              </a:ext>
            </a:extLst>
          </p:cNvPr>
          <p:cNvSpPr txBox="1"/>
          <p:nvPr/>
        </p:nvSpPr>
        <p:spPr>
          <a:xfrm>
            <a:off x="4585491" y="2082110"/>
            <a:ext cx="1819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Archivo Medium"/>
              </a:rPr>
              <a:t>80%</a:t>
            </a:r>
          </a:p>
        </p:txBody>
      </p:sp>
    </p:spTree>
    <p:extLst>
      <p:ext uri="{BB962C8B-B14F-4D97-AF65-F5344CB8AC3E}">
        <p14:creationId xmlns:p14="http://schemas.microsoft.com/office/powerpoint/2010/main" val="321597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LVI theme 1">
  <a:themeElements>
    <a:clrScheme name="Office">
      <a:dk1>
        <a:srgbClr val="12312B"/>
      </a:dk1>
      <a:lt1>
        <a:srgbClr val="FFFFFF"/>
      </a:lt1>
      <a:dk2>
        <a:srgbClr val="00693D"/>
      </a:dk2>
      <a:lt2>
        <a:srgbClr val="000000"/>
      </a:lt2>
      <a:accent1>
        <a:srgbClr val="A5D75F"/>
      </a:accent1>
      <a:accent2>
        <a:srgbClr val="00693D"/>
      </a:accent2>
      <a:accent3>
        <a:srgbClr val="12312B"/>
      </a:accent3>
      <a:accent4>
        <a:srgbClr val="C3E7FF"/>
      </a:accent4>
      <a:accent5>
        <a:srgbClr val="F5DC69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836</Words>
  <Application>Microsoft Office PowerPoint</Application>
  <PresentationFormat>Widescreen</PresentationFormat>
  <Paragraphs>122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Alegreya</vt:lpstr>
      <vt:lpstr>Alegreya SemiBold</vt:lpstr>
      <vt:lpstr>Anton</vt:lpstr>
      <vt:lpstr>Aptos</vt:lpstr>
      <vt:lpstr>Aptos Display</vt:lpstr>
      <vt:lpstr>Archivo</vt:lpstr>
      <vt:lpstr>Archivo ExtraBold</vt:lpstr>
      <vt:lpstr>Archivo Medium</vt:lpstr>
      <vt:lpstr>Archivo SemiBold</vt:lpstr>
      <vt:lpstr>Arial</vt:lpstr>
      <vt:lpstr>Calibri</vt:lpstr>
      <vt:lpstr>Office Theme</vt:lpstr>
      <vt:lpstr>DLVI theme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get started!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Owers Bonner</dc:creator>
  <cp:lastModifiedBy>Katie Owers Bonner</cp:lastModifiedBy>
  <cp:revision>2</cp:revision>
  <dcterms:created xsi:type="dcterms:W3CDTF">2025-09-16T18:18:09Z</dcterms:created>
  <dcterms:modified xsi:type="dcterms:W3CDTF">2026-03-17T18:35:40Z</dcterms:modified>
</cp:coreProperties>
</file>